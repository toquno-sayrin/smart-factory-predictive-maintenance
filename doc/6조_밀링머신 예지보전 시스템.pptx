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2B36"/>
    <a:srgbClr val="C6D6DF"/>
    <a:srgbClr val="F4F6F7"/>
    <a:srgbClr val="EB82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61851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제목과 깃허브 주소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해당 데이터는 밀링 설비에 대한 센서 데이터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youtu.be/kfNdcNgtFc8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852160" cy="5852160"/>
          </a:xfrm>
          <a:prstGeom prst="ellipse">
            <a:avLst/>
          </a:prstGeom>
          <a:solidFill>
            <a:srgbClr val="2E4250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3291840"/>
            <a:ext cx="3108960" cy="3108960"/>
          </a:xfrm>
          <a:prstGeom prst="ellipse">
            <a:avLst/>
          </a:prstGeom>
          <a:solidFill>
            <a:srgbClr val="E8663D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74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86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MAINTENANCE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고장 예측 데이터 분석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AI4I 2020 Predictive Maintenance Dataset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4069080"/>
            <a:ext cx="6309360" cy="502920"/>
          </a:xfrm>
          <a:prstGeom prst="roundRect">
            <a:avLst>
              <a:gd name="adj" fmla="val 18182"/>
            </a:avLst>
          </a:prstGeom>
          <a:solidFill>
            <a:srgbClr val="2E425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43000" y="406908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D6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github.com/Toquno-sayrin/smart-factory-predictive-maintenance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892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6조  ·  서원준 · 최유성 · 정예림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구성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509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Members &amp; Roles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F4F6F7"/>
          </a:solidFill>
          <a:ln w="12700">
            <a:solidFill>
              <a:srgbClr val="E3E9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194560"/>
            <a:ext cx="777240" cy="777240"/>
          </a:xfrm>
          <a:prstGeom prst="ellipse">
            <a:avLst/>
          </a:prstGeom>
          <a:solidFill>
            <a:srgbClr val="E866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194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1546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서원준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66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00507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EDA · 전처리 · 데이터 제공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61688" y="178308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F4F6F7"/>
          </a:solidFill>
          <a:ln w="12700">
            <a:solidFill>
              <a:srgbClr val="E3E9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27448" y="2194560"/>
            <a:ext cx="777240" cy="777240"/>
          </a:xfrm>
          <a:prstGeom prst="ellipse">
            <a:avLst/>
          </a:prstGeom>
          <a:solidFill>
            <a:srgbClr val="3D8A9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27448" y="2194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727448" y="31546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최유성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4727448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8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구현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727448" y="400507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시각화 · 화면 구성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83296" y="178308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F4F6F7"/>
          </a:solidFill>
          <a:ln w="12700">
            <a:solidFill>
              <a:srgbClr val="E3E9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49056" y="2194560"/>
            <a:ext cx="777240" cy="777240"/>
          </a:xfrm>
          <a:prstGeom prst="ellipse">
            <a:avLst/>
          </a:prstGeom>
          <a:solidFill>
            <a:srgbClr val="2E425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49056" y="2194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449056" y="31546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정예림</a:t>
            </a:r>
            <a:endParaRPr lang="en-US" sz="2300" dirty="0"/>
          </a:p>
        </p:txBody>
      </p:sp>
      <p:sp>
        <p:nvSpPr>
          <p:cNvPr id="20" name="Text 18"/>
          <p:cNvSpPr txBox="1"/>
          <p:nvPr/>
        </p:nvSpPr>
        <p:spPr>
          <a:xfrm>
            <a:off x="8449056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449056" y="400507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모델 학습 및 지표 검증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출처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509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UCI Machine Learning Repository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515600" y="411480"/>
            <a:ext cx="1051560" cy="384048"/>
          </a:xfrm>
          <a:prstGeom prst="roundRect">
            <a:avLst>
              <a:gd name="adj" fmla="val 47619"/>
            </a:avLst>
          </a:prstGeom>
          <a:solidFill>
            <a:srgbClr val="F4F6F7"/>
          </a:solidFill>
          <a:ln w="12700">
            <a:solidFill>
              <a:srgbClr val="DDE3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4114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</a:t>
            </a:r>
            <a:endParaRPr lang="en-US" sz="1100" dirty="0"/>
          </a:p>
        </p:txBody>
      </p:sp>
      <p:pic>
        <p:nvPicPr>
          <p:cNvPr id="6" name="Image 0" descr="un/ppt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6675120" cy="3081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0" y="1600200"/>
            <a:ext cx="3794760" cy="3081528"/>
          </a:xfrm>
          <a:prstGeom prst="roundRect">
            <a:avLst>
              <a:gd name="adj" fmla="val 3561"/>
            </a:avLst>
          </a:prstGeom>
          <a:solidFill>
            <a:srgbClr val="1C2B3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092440" y="19659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밀링 설비 센서 데이터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260604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금속을 회전 공구로 깎는 밀링 가공 설비에서 수집된 센서 기록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· 회전속도 · 토크 · 공구마모를 실시간 측정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고장이 나기 전에 미리 잡아내는 것이 목표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509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AI4I 2020 Predictive Maintenance Dataset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515600" y="411480"/>
            <a:ext cx="1051560" cy="384048"/>
          </a:xfrm>
          <a:prstGeom prst="roundRect">
            <a:avLst>
              <a:gd name="adj" fmla="val 47619"/>
            </a:avLst>
          </a:prstGeom>
          <a:solidFill>
            <a:srgbClr val="F4F6F7"/>
          </a:solidFill>
          <a:ln w="12700">
            <a:solidFill>
              <a:srgbClr val="DDE3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4114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4F6F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C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060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(데이터 수)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164592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4F6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82880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C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6060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(컬럼 수)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64592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4F6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182880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86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339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6060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건수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06840" y="164592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4F6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006840" y="182880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86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3.39%</a:t>
            </a:r>
            <a:endParaRPr lang="en-US" sz="38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26060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비율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520440"/>
            <a:ext cx="53492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240">
            <a:solidFill>
              <a:srgbClr val="DDE3E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012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D8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변수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429768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공기온도 [K]  ·  공정온도 [K]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회전속도 [rpm]  ·  토크 [Nm]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공구마모 [min]  ·  제품등급 (H/M/L)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3520440"/>
            <a:ext cx="53492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240">
            <a:solidFill>
              <a:srgbClr val="DDE3E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3796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66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변수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429768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Machine failure  (0 / 1)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→ normal   9,661건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→ fail   339건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EDA 전체 순서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509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Exploratory Data Analysis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29000" cy="2834640"/>
          </a:xfrm>
          <a:prstGeom prst="roundRect">
            <a:avLst>
              <a:gd name="adj" fmla="val 3871"/>
            </a:avLst>
          </a:prstGeom>
          <a:solidFill>
            <a:srgbClr val="2E4250"/>
          </a:solidFill>
          <a:ln/>
        </p:spPr>
      </p:sp>
      <p:sp>
        <p:nvSpPr>
          <p:cNvPr id="5" name="Shape 3"/>
          <p:cNvSpPr/>
          <p:nvPr/>
        </p:nvSpPr>
        <p:spPr>
          <a:xfrm>
            <a:off x="1024128" y="2487168"/>
            <a:ext cx="731520" cy="731520"/>
          </a:xfrm>
          <a:prstGeom prst="ellipse">
            <a:avLst/>
          </a:prstGeom>
          <a:solidFill>
            <a:srgbClr val="3D8A9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24128" y="24871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34015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기술통계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3886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윤곽과 자료형 파악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info() · describe()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041648" y="3200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7585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61688" y="2103120"/>
            <a:ext cx="3429000" cy="2834640"/>
          </a:xfrm>
          <a:prstGeom prst="roundRect">
            <a:avLst>
              <a:gd name="adj" fmla="val 3871"/>
            </a:avLst>
          </a:prstGeom>
          <a:solidFill>
            <a:srgbClr val="2E4250"/>
          </a:solidFill>
          <a:ln/>
        </p:spPr>
      </p:sp>
      <p:sp>
        <p:nvSpPr>
          <p:cNvPr id="11" name="Shape 9"/>
          <p:cNvSpPr/>
          <p:nvPr/>
        </p:nvSpPr>
        <p:spPr>
          <a:xfrm>
            <a:off x="4745736" y="2487168"/>
            <a:ext cx="731520" cy="731520"/>
          </a:xfrm>
          <a:prstGeom prst="ellipse">
            <a:avLst/>
          </a:prstGeom>
          <a:solidFill>
            <a:srgbClr val="3D8A9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45736" y="24871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745736" y="34015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단변량 분석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4745736" y="3886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하나씩 분포 확인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히스토그램 · 박스플롯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763256" y="3200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7585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083296" y="2103120"/>
            <a:ext cx="3429000" cy="2834640"/>
          </a:xfrm>
          <a:prstGeom prst="roundRect">
            <a:avLst>
              <a:gd name="adj" fmla="val 3871"/>
            </a:avLst>
          </a:prstGeom>
          <a:solidFill>
            <a:srgbClr val="2E4250"/>
          </a:solidFill>
          <a:ln/>
        </p:spPr>
      </p:sp>
      <p:sp>
        <p:nvSpPr>
          <p:cNvPr id="17" name="Shape 15"/>
          <p:cNvSpPr/>
          <p:nvPr/>
        </p:nvSpPr>
        <p:spPr>
          <a:xfrm>
            <a:off x="8467344" y="2487168"/>
            <a:ext cx="731520" cy="731520"/>
          </a:xfrm>
          <a:prstGeom prst="ellipse">
            <a:avLst/>
          </a:prstGeom>
          <a:solidFill>
            <a:srgbClr val="E866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67344" y="24871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467344" y="34015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다변량 분석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8467344" y="3886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변수의 관계 파악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상관행렬 · 산점도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기술통계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509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결측값 및 자료형 파악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515600" y="411480"/>
            <a:ext cx="1051560" cy="384048"/>
          </a:xfrm>
          <a:prstGeom prst="roundRect">
            <a:avLst>
              <a:gd name="adj" fmla="val 47619"/>
            </a:avLst>
          </a:prstGeom>
          <a:solidFill>
            <a:srgbClr val="F4F6F7"/>
          </a:solidFill>
          <a:ln w="12700">
            <a:solidFill>
              <a:srgbClr val="DDE3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4114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EDA 1</a:t>
            </a:r>
            <a:endParaRPr lang="en-US" sz="1100" dirty="0"/>
          </a:p>
        </p:txBody>
      </p:sp>
      <p:pic>
        <p:nvPicPr>
          <p:cNvPr id="6" name="Image 0" descr="un/ppt/media/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4206240" cy="3529584"/>
          </a:xfrm>
          <a:prstGeom prst="rect">
            <a:avLst/>
          </a:prstGeom>
        </p:spPr>
      </p:pic>
      <p:pic>
        <p:nvPicPr>
          <p:cNvPr id="7" name="Image 1" descr="un/ppt/media/imag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1600200"/>
            <a:ext cx="6446520" cy="11521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120640" y="3017520"/>
            <a:ext cx="6446520" cy="2112264"/>
          </a:xfrm>
          <a:prstGeom prst="roundRect">
            <a:avLst>
              <a:gd name="adj" fmla="val 5195"/>
            </a:avLst>
          </a:prstGeom>
          <a:solidFill>
            <a:srgbClr val="F4F6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440680" y="3246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 성격 구분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5440680" y="370332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— UDI(일련번호), Product ID(제품번호)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범주형 — Type 하나뿐 (제품등급 H/M/L)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연속형 센서값 — 공기온도, 공정온도, 회전속도, 토크, 공구마모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5440680" y="47548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3D8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결측값 0건 · 중복행 0건 — 별도 처리 불필요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기술통계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509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스케일 확인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515600" y="411480"/>
            <a:ext cx="1051560" cy="384048"/>
          </a:xfrm>
          <a:prstGeom prst="roundRect">
            <a:avLst>
              <a:gd name="adj" fmla="val 47619"/>
            </a:avLst>
          </a:prstGeom>
          <a:solidFill>
            <a:srgbClr val="F4F6F7"/>
          </a:solidFill>
          <a:ln w="12700">
            <a:solidFill>
              <a:srgbClr val="DDE3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4114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EDA 1</a:t>
            </a:r>
            <a:endParaRPr lang="en-US" sz="1100" dirty="0"/>
          </a:p>
        </p:txBody>
      </p:sp>
      <p:pic>
        <p:nvPicPr>
          <p:cNvPr id="6" name="Image 0" descr="un/ppt/media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63040"/>
            <a:ext cx="5349240" cy="4526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355080" y="1463040"/>
            <a:ext cx="5212080" cy="4526280"/>
          </a:xfrm>
          <a:prstGeom prst="roundRect">
            <a:avLst>
              <a:gd name="adj" fmla="val 2424"/>
            </a:avLst>
          </a:prstGeom>
          <a:solidFill>
            <a:srgbClr val="1C2B3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720840" y="1828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점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720840" y="2423160"/>
            <a:ext cx="4526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회전속도(1168~2886)가 온도(295~314)보다 자릿수가 큼</a:t>
            </a:r>
            <a:endParaRPr lang="en-US" sz="13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기반 모델을 쓰면 스케일링 필요</a:t>
            </a:r>
            <a:endParaRPr lang="en-US" sz="13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TWF·HDF·PWF·OSF·RNF는 0/1 이진 컬럼</a:t>
            </a:r>
            <a:endParaRPr lang="en-US" sz="13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평균 0.0339 → 심한 클래스 불균형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단변량 분석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509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분포와 이상치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515600" y="411480"/>
            <a:ext cx="1051560" cy="384048"/>
          </a:xfrm>
          <a:prstGeom prst="roundRect">
            <a:avLst>
              <a:gd name="adj" fmla="val 47619"/>
            </a:avLst>
          </a:prstGeom>
          <a:solidFill>
            <a:srgbClr val="F4F6F7"/>
          </a:solidFill>
          <a:ln w="12700">
            <a:solidFill>
              <a:srgbClr val="DDE3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4114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EDA 2</a:t>
            </a:r>
            <a:endParaRPr lang="en-US" sz="1100" dirty="0"/>
          </a:p>
        </p:txBody>
      </p:sp>
      <p:pic>
        <p:nvPicPr>
          <p:cNvPr id="6" name="Image 0" descr="un/ppt/media/image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5486400" cy="2048256"/>
          </a:xfrm>
          <a:prstGeom prst="rect">
            <a:avLst/>
          </a:prstGeom>
        </p:spPr>
      </p:pic>
      <p:pic>
        <p:nvPicPr>
          <p:cNvPr id="7" name="Image 1" descr="un/ppt/media/image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49040"/>
            <a:ext cx="5486400" cy="200253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537960" y="1554480"/>
            <a:ext cx="5029200" cy="4197096"/>
          </a:xfrm>
          <a:prstGeom prst="roundRect">
            <a:avLst>
              <a:gd name="adj" fmla="val 2614"/>
            </a:avLst>
          </a:prstGeom>
          <a:solidFill>
            <a:srgbClr val="F4F6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85800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읽어낸 것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2441448"/>
            <a:ext cx="146304" cy="146304"/>
          </a:xfrm>
          <a:prstGeom prst="ellipse">
            <a:avLst/>
          </a:prstGeom>
          <a:solidFill>
            <a:srgbClr val="E8663D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132320" y="2377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공기온도 · 공정온도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7132320" y="26700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봉우리가 여러 개 — 측정값이 특정 지점에 몰림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858000" y="3282696"/>
            <a:ext cx="146304" cy="146304"/>
          </a:xfrm>
          <a:prstGeom prst="ellipse">
            <a:avLst/>
          </a:prstGeom>
          <a:solidFill>
            <a:srgbClr val="E8663D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132320" y="32186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회전속도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7132320" y="35112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오른쪽으로 긴 꼬리 — 고속 운전 구간 존재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858000" y="4123944"/>
            <a:ext cx="146304" cy="146304"/>
          </a:xfrm>
          <a:prstGeom prst="ellipse">
            <a:avLst/>
          </a:prstGeom>
          <a:solidFill>
            <a:srgbClr val="E8663D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132320" y="40599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토크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7132320" y="435254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정규분포에 가까움 — 변환 불필요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858000" y="4965192"/>
            <a:ext cx="146304" cy="146304"/>
          </a:xfrm>
          <a:prstGeom prst="ellipse">
            <a:avLst/>
          </a:prstGeom>
          <a:solidFill>
            <a:srgbClr val="E8663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132320" y="49011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공구마모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7132320" y="51937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균등하다가 200분에서 절단 — 교체 주기의 흔적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다변량 분석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509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간 상관관계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515600" y="411480"/>
            <a:ext cx="1051560" cy="384048"/>
          </a:xfrm>
          <a:prstGeom prst="roundRect">
            <a:avLst>
              <a:gd name="adj" fmla="val 47619"/>
            </a:avLst>
          </a:prstGeom>
          <a:solidFill>
            <a:srgbClr val="F4F6F7"/>
          </a:solidFill>
          <a:ln w="12700">
            <a:solidFill>
              <a:srgbClr val="DDE3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4114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EDA 3</a:t>
            </a:r>
            <a:endParaRPr lang="en-US" sz="1100" dirty="0"/>
          </a:p>
        </p:txBody>
      </p:sp>
      <p:pic>
        <p:nvPicPr>
          <p:cNvPr id="6" name="Image 0" descr="un/ppt/media/image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54480"/>
            <a:ext cx="4937760" cy="41788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309360" y="1554480"/>
            <a:ext cx="5257800" cy="1920240"/>
          </a:xfrm>
          <a:prstGeom prst="roundRect">
            <a:avLst>
              <a:gd name="adj" fmla="val 5714"/>
            </a:avLst>
          </a:prstGeom>
          <a:solidFill>
            <a:srgbClr val="1C2B3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62940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다중공선성 두 쌍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629400" y="22860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Air temp  ↔  Process temp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966960" y="221284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E86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629400" y="27889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Rotational speed  ↔  Torque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966960" y="27157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E86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-0.88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309360" y="3703320"/>
            <a:ext cx="5257800" cy="2029968"/>
          </a:xfrm>
          <a:prstGeom prst="roundRect">
            <a:avLst>
              <a:gd name="adj" fmla="val 5405"/>
            </a:avLst>
          </a:prstGeom>
          <a:solidFill>
            <a:srgbClr val="F4F6F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629400" y="3931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무엇이 문제인가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4407408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변수가 같은 정보를 중복해서 담고 있음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어느 쪽 때문인지 구분하지 못해 계수 해석이 어긋남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중요도가 둘로 쪼개져 실제보다 낮게 보임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EDA 결과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509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탐색적 데이터 분석 정리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515600" y="411480"/>
            <a:ext cx="1051560" cy="384048"/>
          </a:xfrm>
          <a:prstGeom prst="roundRect">
            <a:avLst>
              <a:gd name="adj" fmla="val 47619"/>
            </a:avLst>
          </a:prstGeom>
          <a:solidFill>
            <a:srgbClr val="F4F6F7"/>
          </a:solidFill>
          <a:ln w="12700">
            <a:solidFill>
              <a:srgbClr val="DDE3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4114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10927080" cy="896112"/>
          </a:xfrm>
          <a:prstGeom prst="roundRect">
            <a:avLst>
              <a:gd name="adj" fmla="val 10204"/>
            </a:avLst>
          </a:prstGeom>
          <a:solidFill>
            <a:srgbClr val="F4F6F7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1911096"/>
            <a:ext cx="457200" cy="457200"/>
          </a:xfrm>
          <a:prstGeom prst="ellipse">
            <a:avLst/>
          </a:prstGeom>
          <a:solidFill>
            <a:srgbClr val="3D8A9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1911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1691640"/>
            <a:ext cx="2194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품질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1691640"/>
            <a:ext cx="7315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 0건, 중복행 0건 — 별도 처리 불필요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743200"/>
            <a:ext cx="10927080" cy="896112"/>
          </a:xfrm>
          <a:prstGeom prst="roundRect">
            <a:avLst>
              <a:gd name="adj" fmla="val 10204"/>
            </a:avLst>
          </a:prstGeom>
          <a:solidFill>
            <a:srgbClr val="F4F6F7"/>
          </a:solidFill>
          <a:ln/>
        </p:spPr>
      </p:sp>
      <p:sp>
        <p:nvSpPr>
          <p:cNvPr id="12" name="Shape 10"/>
          <p:cNvSpPr/>
          <p:nvPr/>
        </p:nvSpPr>
        <p:spPr>
          <a:xfrm>
            <a:off x="960120" y="2962656"/>
            <a:ext cx="457200" cy="457200"/>
          </a:xfrm>
          <a:prstGeom prst="ellipse">
            <a:avLst/>
          </a:prstGeom>
          <a:solidFill>
            <a:srgbClr val="E866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2743200"/>
            <a:ext cx="2194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2743200"/>
            <a:ext cx="7315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토크 이상치 69건 중 90%가 고장 → 제거하지 않고 신호로 활용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794760"/>
            <a:ext cx="10927080" cy="896112"/>
          </a:xfrm>
          <a:prstGeom prst="roundRect">
            <a:avLst>
              <a:gd name="adj" fmla="val 10204"/>
            </a:avLst>
          </a:prstGeom>
          <a:solidFill>
            <a:srgbClr val="F4F6F7"/>
          </a:solidFill>
          <a:ln/>
        </p:spPr>
      </p:sp>
      <p:sp>
        <p:nvSpPr>
          <p:cNvPr id="17" name="Shape 15"/>
          <p:cNvSpPr/>
          <p:nvPr/>
        </p:nvSpPr>
        <p:spPr>
          <a:xfrm>
            <a:off x="960120" y="4014216"/>
            <a:ext cx="457200" cy="457200"/>
          </a:xfrm>
          <a:prstGeom prst="ellipse">
            <a:avLst/>
          </a:prstGeom>
          <a:solidFill>
            <a:srgbClr val="3D8A9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4014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645920" y="3794760"/>
            <a:ext cx="2194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상관관계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931920" y="3794760"/>
            <a:ext cx="7315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공기온도-공정온도 0.88, 회전속도-토크 -0.88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846320"/>
            <a:ext cx="10927080" cy="896112"/>
          </a:xfrm>
          <a:prstGeom prst="roundRect">
            <a:avLst>
              <a:gd name="adj" fmla="val 10204"/>
            </a:avLst>
          </a:prstGeom>
          <a:solidFill>
            <a:srgbClr val="F4F6F7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5065776"/>
            <a:ext cx="457200" cy="457200"/>
          </a:xfrm>
          <a:prstGeom prst="ellipse">
            <a:avLst/>
          </a:prstGeom>
          <a:solidFill>
            <a:srgbClr val="E866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60120" y="5065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4846320"/>
            <a:ext cx="2194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제품등급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3931920" y="4846320"/>
            <a:ext cx="7315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고장률  L 3.92%  &gt;  M 2.77%  &gt;  H 2.09%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 엔지니어링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509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지식을 변수로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515600" y="411480"/>
            <a:ext cx="1051560" cy="384048"/>
          </a:xfrm>
          <a:prstGeom prst="roundRect">
            <a:avLst>
              <a:gd name="adj" fmla="val 47619"/>
            </a:avLst>
          </a:prstGeom>
          <a:solidFill>
            <a:srgbClr val="F4F6F7"/>
          </a:solidFill>
          <a:ln w="12700">
            <a:solidFill>
              <a:srgbClr val="DDE3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4114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</a:t>
            </a:r>
            <a:endParaRPr lang="en-US" sz="1100" dirty="0"/>
          </a:p>
        </p:txBody>
      </p:sp>
      <p:pic>
        <p:nvPicPr>
          <p:cNvPr id="6" name="Image 0" descr="un/ppt/media/image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600200"/>
            <a:ext cx="4892040" cy="43342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1600200"/>
            <a:ext cx="5669280" cy="2057400"/>
          </a:xfrm>
          <a:prstGeom prst="roundRect">
            <a:avLst>
              <a:gd name="adj" fmla="val 5333"/>
            </a:avLst>
          </a:prstGeom>
          <a:solidFill>
            <a:srgbClr val="1C2B3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만들었나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2359152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변수와 고장의 상관이 최대 0.19에 그침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변수로는 고장을 설명할 수 없음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상관계수가 아니라 설비 물리 관계에서 조합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40080" y="3877056"/>
            <a:ext cx="5669280" cy="2057400"/>
          </a:xfrm>
          <a:prstGeom prst="roundRect">
            <a:avLst>
              <a:gd name="adj" fmla="val 5333"/>
            </a:avLst>
          </a:prstGeom>
          <a:solidFill>
            <a:srgbClr val="F4F6F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60120" y="407822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물리량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507992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6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=  토크 × 각속도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960120" y="4782312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속도-토크 다중공선성을 해소하면서 설비 출력이라는 의미를 얻음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517550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6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temp_diff  =  공정온도 − 대기온도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5449824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다중공선성을 해소하면서 발열량을 직접 표현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2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파생변수 검증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509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임계값과 실제 고장 라벨 대조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27080" cy="868680"/>
          </a:xfrm>
          <a:prstGeom prst="roundRect">
            <a:avLst>
              <a:gd name="adj" fmla="val 10526"/>
            </a:avLst>
          </a:prstGeom>
          <a:solidFill>
            <a:srgbClr val="2E425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965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발산 고장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96596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온도차 &lt; 8.6K  그리고  회전속도 &lt; 1380rpm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326880" y="196596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86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 / 115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2990088"/>
            <a:ext cx="10927080" cy="868680"/>
          </a:xfrm>
          <a:prstGeom prst="roundRect">
            <a:avLst>
              <a:gd name="adj" fmla="val 10526"/>
            </a:avLst>
          </a:prstGeom>
          <a:solidFill>
            <a:srgbClr val="2E42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05840" y="299008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고장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990088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&lt; 3500W  또는  출력 &gt; 9000W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2990088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86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 / 95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4014216"/>
            <a:ext cx="10927080" cy="868680"/>
          </a:xfrm>
          <a:prstGeom prst="roundRect">
            <a:avLst>
              <a:gd name="adj" fmla="val 10526"/>
            </a:avLst>
          </a:prstGeom>
          <a:solidFill>
            <a:srgbClr val="2E425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4014216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과부하 고장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4014216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마모 × 토크  &gt;  등급별 임계 (11000/12000/13000)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326880" y="4014216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86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 / 98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25780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조건만으로 실제 고장 라벨과 완전히 일치 — 예측 근거를 설명할 수 있는 구조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509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Preprocessing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515600" y="411480"/>
            <a:ext cx="1051560" cy="384048"/>
          </a:xfrm>
          <a:prstGeom prst="roundRect">
            <a:avLst>
              <a:gd name="adj" fmla="val 47619"/>
            </a:avLst>
          </a:prstGeom>
          <a:solidFill>
            <a:srgbClr val="F4F6F7"/>
          </a:solidFill>
          <a:ln w="12700">
            <a:solidFill>
              <a:srgbClr val="DDE3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4114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PREP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25146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5240">
            <a:solidFill>
              <a:srgbClr val="DDE3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45920" y="2194560"/>
            <a:ext cx="548640" cy="548640"/>
          </a:xfrm>
          <a:prstGeom prst="ellipse">
            <a:avLst/>
          </a:prstGeom>
          <a:solidFill>
            <a:srgbClr val="1C2B3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4592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26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제거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364992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UDI, Product ID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288036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7585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3429000" y="1920240"/>
            <a:ext cx="25146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5240">
            <a:solidFill>
              <a:srgbClr val="DDE3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4840" y="2194560"/>
            <a:ext cx="548640" cy="548640"/>
          </a:xfrm>
          <a:prstGeom prst="ellipse">
            <a:avLst/>
          </a:prstGeom>
          <a:solidFill>
            <a:srgbClr val="1C2B3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348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2926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누수 제거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3364992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TWF, HDF, PWF, OSF, RNF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971032" y="288036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7585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217920" y="1920240"/>
            <a:ext cx="25146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5240">
            <a:solidFill>
              <a:srgbClr val="DDE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23760" y="2194560"/>
            <a:ext cx="548640" cy="548640"/>
          </a:xfrm>
          <a:prstGeom prst="ellipse">
            <a:avLst/>
          </a:prstGeom>
          <a:solidFill>
            <a:srgbClr val="1C2B3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2376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2926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원핫 인코딩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3364992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 → Type_H / L / M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759952" y="288036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7585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9006840" y="1920240"/>
            <a:ext cx="25146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5240">
            <a:solidFill>
              <a:srgbClr val="DD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12680" y="2194560"/>
            <a:ext cx="548640" cy="548640"/>
          </a:xfrm>
          <a:prstGeom prst="ellipse">
            <a:avLst/>
          </a:prstGeom>
          <a:solidFill>
            <a:srgbClr val="1C2B3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1268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189720" y="2926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변환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189720" y="3364992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→ normal,  1 → fail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4709160"/>
            <a:ext cx="10927080" cy="868680"/>
          </a:xfrm>
          <a:prstGeom prst="roundRect">
            <a:avLst>
              <a:gd name="adj" fmla="val 10526"/>
            </a:avLst>
          </a:prstGeom>
          <a:solidFill>
            <a:srgbClr val="1C2B3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0080" y="4709160"/>
            <a:ext cx="10927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 10,000행 × 9열     (입력 8개 + 정답 1개)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채택 과정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509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모델 4종 비교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515600" y="411480"/>
            <a:ext cx="1051560" cy="384048"/>
          </a:xfrm>
          <a:prstGeom prst="roundRect">
            <a:avLst>
              <a:gd name="adj" fmla="val 47619"/>
            </a:avLst>
          </a:prstGeom>
          <a:solidFill>
            <a:srgbClr val="F4F6F7"/>
          </a:solidFill>
          <a:ln w="12700">
            <a:solidFill>
              <a:srgbClr val="DDE3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4114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</a:t>
            </a:r>
            <a:endParaRPr lang="en-US" sz="1100" dirty="0"/>
          </a:p>
        </p:txBody>
      </p:sp>
      <p:pic>
        <p:nvPicPr>
          <p:cNvPr id="6" name="Image 0" descr="m/model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6400800" cy="2468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4434840"/>
            <a:ext cx="6400800" cy="1280160"/>
          </a:xfrm>
          <a:prstGeom prst="roundRect">
            <a:avLst>
              <a:gd name="adj" fmla="val 8571"/>
            </a:avLst>
          </a:prstGeom>
          <a:solidFill>
            <a:srgbClr val="F4F6F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46177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성능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937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6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XGBoost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3291840" y="4937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0.946   ·   AUC 0.977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0" y="1691640"/>
            <a:ext cx="4251960" cy="4023360"/>
          </a:xfrm>
          <a:prstGeom prst="roundRect">
            <a:avLst>
              <a:gd name="adj" fmla="val 2727"/>
            </a:avLst>
          </a:prstGeom>
          <a:solidFill>
            <a:srgbClr val="1C2B3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68096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XGBoost 인가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680960" y="251460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정형(테이블형) 센서 데이터에 강함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1만 행 규모의 소규모 데이터에 적합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 기반이라 변수 스케일에 덜 민감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결측치를 내부에서 자동 처리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random_state=42 로 재현성 고정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2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파이프라인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509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run_pipeline() 처리 순서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429000" cy="1737360"/>
          </a:xfrm>
          <a:prstGeom prst="roundRect">
            <a:avLst>
              <a:gd name="adj" fmla="val 6316"/>
            </a:avLst>
          </a:prstGeom>
          <a:solidFill>
            <a:srgbClr val="2E425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0756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FC3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77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스케일링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7889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FC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StandardScaler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0815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5종 표준화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1688" y="1874520"/>
            <a:ext cx="3429000" cy="1737360"/>
          </a:xfrm>
          <a:prstGeom prst="roundRect">
            <a:avLst>
              <a:gd name="adj" fmla="val 6316"/>
            </a:avLst>
          </a:prstGeom>
          <a:solidFill>
            <a:srgbClr val="2E425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81728" y="20756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FC3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81728" y="2377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층화 분할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81728" y="27889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FC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stratify=y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681728" y="30815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3.4% 비율 유지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83296" y="1874520"/>
            <a:ext cx="3429000" cy="1737360"/>
          </a:xfrm>
          <a:prstGeom prst="roundRect">
            <a:avLst>
              <a:gd name="adj" fmla="val 6316"/>
            </a:avLst>
          </a:prstGeom>
          <a:solidFill>
            <a:srgbClr val="2E42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03336" y="20756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91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03336" y="2377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불균형 보정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403336" y="27889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291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scale_pos_weight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403336" y="30815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소수 클래스 가중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840480"/>
            <a:ext cx="3429000" cy="1737360"/>
          </a:xfrm>
          <a:prstGeom prst="roundRect">
            <a:avLst>
              <a:gd name="adj" fmla="val 6316"/>
            </a:avLst>
          </a:prstGeom>
          <a:solidFill>
            <a:srgbClr val="2E42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404164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FC3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4343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4754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FC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XGBClassifier.fit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50474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 부스팅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61688" y="3840480"/>
            <a:ext cx="3429000" cy="1737360"/>
          </a:xfrm>
          <a:prstGeom prst="roundRect">
            <a:avLst>
              <a:gd name="adj" fmla="val 6316"/>
            </a:avLst>
          </a:prstGeom>
          <a:solidFill>
            <a:srgbClr val="2E425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681728" y="404164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FC3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681728" y="4343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681728" y="4754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FC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predict_proba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4681728" y="50474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확률값 산출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083296" y="3840480"/>
            <a:ext cx="3429000" cy="1737360"/>
          </a:xfrm>
          <a:prstGeom prst="roundRect">
            <a:avLst>
              <a:gd name="adj" fmla="val 6316"/>
            </a:avLst>
          </a:prstGeom>
          <a:solidFill>
            <a:srgbClr val="2E425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03336" y="404164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FC3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403336" y="4343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403336" y="4754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FC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Recall · F1 · AUC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403336" y="50474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혼동행렬 · ROC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 불균형 보정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509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scale_pos_weight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515600" y="411480"/>
            <a:ext cx="1051560" cy="384048"/>
          </a:xfrm>
          <a:prstGeom prst="roundRect">
            <a:avLst>
              <a:gd name="adj" fmla="val 47619"/>
            </a:avLst>
          </a:prstGeom>
          <a:solidFill>
            <a:srgbClr val="F4F6F7"/>
          </a:solidFill>
          <a:ln w="12700">
            <a:solidFill>
              <a:srgbClr val="DDE3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4114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4F6F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18288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1945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C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: 고장 =  28.5 : 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5394960" cy="2514600"/>
          </a:xfrm>
          <a:prstGeom prst="roundRect">
            <a:avLst>
              <a:gd name="adj" fmla="val 4364"/>
            </a:avLst>
          </a:prstGeom>
          <a:solidFill>
            <a:srgbClr val="1C2B3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3429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37673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66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scale_pos_weight = neg / pos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2519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샘플을 틀렸을 때의 손실에 28.5배 가중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소수 클래스를 더 적극적으로 학습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설정으로는 고장을 잘 잡아내지 못함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55080" y="1645920"/>
            <a:ext cx="521208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5240">
            <a:solidFill>
              <a:srgbClr val="DDE3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7512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효과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25146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585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7585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0.721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9260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7585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9006840" y="2834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6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0.765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6675120" y="3794760"/>
            <a:ext cx="4572000" cy="1600200"/>
          </a:xfrm>
          <a:prstGeom prst="roundRect">
            <a:avLst>
              <a:gd name="adj" fmla="val 5714"/>
            </a:avLst>
          </a:prstGeom>
          <a:solidFill>
            <a:srgbClr val="F4F6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49440" y="40233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놓친 실제 고장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43891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19건  →  16건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49560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3건의 예기치 못한 정지를 줄인 효과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실험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509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decision_threshold 조정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515600" y="411480"/>
            <a:ext cx="1051560" cy="384048"/>
          </a:xfrm>
          <a:prstGeom prst="roundRect">
            <a:avLst>
              <a:gd name="adj" fmla="val 47619"/>
            </a:avLst>
          </a:prstGeom>
          <a:solidFill>
            <a:srgbClr val="F4F6F7"/>
          </a:solidFill>
          <a:ln w="12700">
            <a:solidFill>
              <a:srgbClr val="DDE3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4114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TUNING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4F6F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17830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predict() 대신  predict_proba() + 수동 임계값 비교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임계값을 decision_threshold 한 곳에서 통제할 수 있도록 설계 — 실험과 재현이 쉬워짐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5257800" cy="2560320"/>
          </a:xfrm>
          <a:prstGeom prst="roundRect">
            <a:avLst>
              <a:gd name="adj" fmla="val 4286"/>
            </a:avLst>
          </a:prstGeom>
          <a:solidFill>
            <a:srgbClr val="F4F6F7"/>
          </a:solidFill>
          <a:ln w="12700">
            <a:solidFill>
              <a:srgbClr val="E3E9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34290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6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0.3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" y="4041648"/>
            <a:ext cx="128016" cy="128016"/>
          </a:xfrm>
          <a:prstGeom prst="ellipse">
            <a:avLst/>
          </a:prstGeom>
          <a:solidFill>
            <a:srgbClr val="E866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61872" y="396849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개선 없음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05840" y="4544568"/>
            <a:ext cx="128016" cy="128016"/>
          </a:xfrm>
          <a:prstGeom prst="ellipse">
            <a:avLst/>
          </a:prstGeom>
          <a:solidFill>
            <a:srgbClr val="E866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61872" y="447141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오탐(FP)만 증가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1005840" y="5047488"/>
            <a:ext cx="128016" cy="128016"/>
          </a:xfrm>
          <a:prstGeom prst="ellipse">
            <a:avLst/>
          </a:prstGeom>
          <a:solidFill>
            <a:srgbClr val="E8663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61872" y="497433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F1 악화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309360" y="3154680"/>
            <a:ext cx="5257800" cy="25603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25400">
            <a:solidFill>
              <a:srgbClr val="3D8A9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75120" y="34290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D8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0.5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675120" y="4041648"/>
            <a:ext cx="128016" cy="128016"/>
          </a:xfrm>
          <a:prstGeom prst="ellipse">
            <a:avLst/>
          </a:prstGeom>
          <a:solidFill>
            <a:srgbClr val="3D8A9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31152" y="396849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유지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675120" y="4544568"/>
            <a:ext cx="128016" cy="128016"/>
          </a:xfrm>
          <a:prstGeom prst="ellipse">
            <a:avLst/>
          </a:prstGeom>
          <a:solidFill>
            <a:srgbClr val="3D8A9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31152" y="447141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오탐 억제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675120" y="5047488"/>
            <a:ext cx="128016" cy="128016"/>
          </a:xfrm>
          <a:prstGeom prst="ellipse">
            <a:avLst/>
          </a:prstGeom>
          <a:solidFill>
            <a:srgbClr val="3D8A9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931152" y="497433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F1 최적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0104120" y="3429000"/>
            <a:ext cx="1097280" cy="384048"/>
          </a:xfrm>
          <a:prstGeom prst="roundRect">
            <a:avLst>
              <a:gd name="adj" fmla="val 47619"/>
            </a:avLst>
          </a:prstGeom>
          <a:solidFill>
            <a:srgbClr val="3D8A9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104120" y="34290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C2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지표 선택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509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보고 좋은 모델이라 판단했나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5A2A1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011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5B9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Accuracy 98% 는 눈속임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8716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C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정상이라고 찍어도 96.6% — 고장이 3.4%뿐이라 정확도로는 변별이 안 됨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783080"/>
            <a:ext cx="5212080" cy="1463040"/>
          </a:xfrm>
          <a:prstGeom prst="roundRect">
            <a:avLst>
              <a:gd name="adj" fmla="val 7500"/>
            </a:avLst>
          </a:prstGeom>
          <a:solidFill>
            <a:srgbClr val="2E425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20840" y="2011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· F1 · AUC 중심 평가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720840" y="24871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8BC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놓친 고장이 몇 건인가를 기준으로 판단 — 현장 손실과 직결되는 지표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2514600" cy="2194560"/>
          </a:xfrm>
          <a:prstGeom prst="roundRect">
            <a:avLst>
              <a:gd name="adj" fmla="val 5000"/>
            </a:avLst>
          </a:prstGeom>
          <a:solidFill>
            <a:srgbClr val="2E425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91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4251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고장 중 잡아낸 비율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5029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7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놓치면 설비 정지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29000" y="3520440"/>
            <a:ext cx="2514600" cy="2194560"/>
          </a:xfrm>
          <a:prstGeom prst="roundRect">
            <a:avLst>
              <a:gd name="adj" fmla="val 5000"/>
            </a:avLst>
          </a:prstGeom>
          <a:solidFill>
            <a:srgbClr val="2E42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70332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91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F1-Score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4251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정밀도와 재현율의 균형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703320" y="5029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7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오탐과 미탐을 함께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3520440"/>
            <a:ext cx="2514600" cy="2194560"/>
          </a:xfrm>
          <a:prstGeom prst="roundRect">
            <a:avLst>
              <a:gd name="adj" fmla="val 5000"/>
            </a:avLst>
          </a:prstGeom>
          <a:solidFill>
            <a:srgbClr val="2E425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9224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91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4251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임계값과 무관한 분별력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5029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7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자체의 성능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06840" y="3520440"/>
            <a:ext cx="2514600" cy="2194560"/>
          </a:xfrm>
          <a:prstGeom prst="roundRect">
            <a:avLst>
              <a:gd name="adj" fmla="val 5000"/>
            </a:avLst>
          </a:prstGeom>
          <a:solidFill>
            <a:srgbClr val="2E425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28116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FC3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교차검증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281160" y="4251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StratifiedKFold · F1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281160" y="5029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7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fold마다 비율 유지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구현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509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시각화 화면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515600" y="411480"/>
            <a:ext cx="1051560" cy="384048"/>
          </a:xfrm>
          <a:prstGeom prst="roundRect">
            <a:avLst>
              <a:gd name="adj" fmla="val 47619"/>
            </a:avLst>
          </a:prstGeom>
          <a:solidFill>
            <a:srgbClr val="F4F6F7"/>
          </a:solidFill>
          <a:ln w="12700">
            <a:solidFill>
              <a:srgbClr val="DDE3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4114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</a:t>
            </a:r>
            <a:endParaRPr lang="en-US" sz="1100" dirty="0"/>
          </a:p>
        </p:txBody>
      </p:sp>
      <p:pic>
        <p:nvPicPr>
          <p:cNvPr id="6" name="Image 0" descr="m/ui_d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63040"/>
            <a:ext cx="5943600" cy="45171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0" y="1463040"/>
            <a:ext cx="4709160" cy="4517136"/>
          </a:xfrm>
          <a:prstGeom prst="roundRect">
            <a:avLst>
              <a:gd name="adj" fmla="val 2429"/>
            </a:avLst>
          </a:prstGeom>
          <a:solidFill>
            <a:srgbClr val="F4F6F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223760" y="1828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그래프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223760" y="2542032"/>
            <a:ext cx="146304" cy="146304"/>
          </a:xfrm>
          <a:prstGeom prst="ellipse">
            <a:avLst/>
          </a:prstGeom>
          <a:solidFill>
            <a:srgbClr val="3D8A9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498080" y="24871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히스토그램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2788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분포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3401568"/>
            <a:ext cx="146304" cy="146304"/>
          </a:xfrm>
          <a:prstGeom prst="ellipse">
            <a:avLst/>
          </a:prstGeom>
          <a:solidFill>
            <a:srgbClr val="3D8A9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98080" y="3346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 히트맵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36484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간 관계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223760" y="4261104"/>
            <a:ext cx="146304" cy="146304"/>
          </a:xfrm>
          <a:prstGeom prst="ellipse">
            <a:avLst/>
          </a:prstGeom>
          <a:solidFill>
            <a:srgbClr val="3D8A9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98080" y="42062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유형 분포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0" y="45079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TWF·HDF·PWF·OSF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223760" y="5120640"/>
            <a:ext cx="146304" cy="146304"/>
          </a:xfrm>
          <a:prstGeom prst="ellipse">
            <a:avLst/>
          </a:prstGeom>
          <a:solidFill>
            <a:srgbClr val="3D8A9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98080" y="50657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근거 카드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498080" y="53675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조건 표시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설비 관제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509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analyze_sample_details()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515600" y="411480"/>
            <a:ext cx="1051560" cy="384048"/>
          </a:xfrm>
          <a:prstGeom prst="roundRect">
            <a:avLst>
              <a:gd name="adj" fmla="val 47619"/>
            </a:avLst>
          </a:prstGeom>
          <a:solidFill>
            <a:srgbClr val="F4F6F7"/>
          </a:solidFill>
          <a:ln w="12700">
            <a:solidFill>
              <a:srgbClr val="DDE3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0" y="4114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585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RUNTIME</a:t>
            </a:r>
            <a:endParaRPr lang="en-US" sz="1100" dirty="0"/>
          </a:p>
        </p:txBody>
      </p:sp>
      <p:pic>
        <p:nvPicPr>
          <p:cNvPr id="6" name="Image 0" descr="m/ui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5989320" cy="42336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949440" y="1554480"/>
            <a:ext cx="4617720" cy="1920240"/>
          </a:xfrm>
          <a:prstGeom prst="roundRect">
            <a:avLst>
              <a:gd name="adj" fmla="val 5714"/>
            </a:avLst>
          </a:prstGeom>
          <a:solidFill>
            <a:srgbClr val="1C2B3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269480" y="1783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가지를 함께 본다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269480" y="228600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확률  predict_proba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C6D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물리 규칙 (결정론적)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949440" y="3703320"/>
            <a:ext cx="4617720" cy="2084832"/>
          </a:xfrm>
          <a:prstGeom prst="roundRect">
            <a:avLst>
              <a:gd name="adj" fmla="val 5263"/>
            </a:avLst>
          </a:prstGeom>
          <a:solidFill>
            <a:srgbClr val="F4F6F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269480" y="39136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B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규칙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269480" y="434340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TWF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43434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마모 ≥ 200min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269480" y="470916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47091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ΔT &lt; 8.6K &amp; rpm &lt; 1380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269480" y="507492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PWF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50749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&lt; 3.5kW 또는 &gt; 9kW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269480" y="544068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OSF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001000" y="54406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E42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마모 × 토크 &gt; 등급별 한계</a:t>
            </a:r>
            <a:endParaRPr lang="en-US" sz="1150" dirty="0"/>
          </a:p>
        </p:txBody>
      </p:sp>
      <p:sp>
        <p:nvSpPr>
          <p:cNvPr id="20" name="사각형: 둥근 모서리 19">
            <a:hlinkClick r:id="rId4"/>
            <a:extLst>
              <a:ext uri="{FF2B5EF4-FFF2-40B4-BE49-F238E27FC236}">
                <a16:creationId xmlns:a16="http://schemas.microsoft.com/office/drawing/2014/main" id="{282DAB2F-15FB-E6B9-4CAF-BD3AA388997B}"/>
              </a:ext>
            </a:extLst>
          </p:cNvPr>
          <p:cNvSpPr/>
          <p:nvPr/>
        </p:nvSpPr>
        <p:spPr>
          <a:xfrm>
            <a:off x="9475237" y="5998464"/>
            <a:ext cx="2080726" cy="548640"/>
          </a:xfrm>
          <a:prstGeom prst="roundRect">
            <a:avLst/>
          </a:prstGeom>
          <a:solidFill>
            <a:srgbClr val="1C2B36"/>
          </a:solidFill>
          <a:ln>
            <a:noFill/>
          </a:ln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시연 영상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1089</Words>
  <Application>Microsoft Office PowerPoint</Application>
  <PresentationFormat>와이드스크린</PresentationFormat>
  <Paragraphs>297</Paragraphs>
  <Slides>20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Malgun Gothic</vt:lpstr>
      <vt:lpstr>Arial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3</cp:revision>
  <dcterms:created xsi:type="dcterms:W3CDTF">2026-08-28T03:08:53Z</dcterms:created>
  <dcterms:modified xsi:type="dcterms:W3CDTF">2026-08-28T03:49:00Z</dcterms:modified>
</cp:coreProperties>
</file>